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Century Gothic" panose="020B0502020202020204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96">
          <p15:clr>
            <a:srgbClr val="A4A3A4"/>
          </p15:clr>
        </p15:guide>
        <p15:guide id="2" pos="3768">
          <p15:clr>
            <a:srgbClr val="A4A3A4"/>
          </p15:clr>
        </p15:guide>
        <p15:guide id="3" pos="7560">
          <p15:clr>
            <a:srgbClr val="A4A3A4"/>
          </p15:clr>
        </p15:guide>
        <p15:guide id="4" pos="120">
          <p15:clr>
            <a:srgbClr val="A4A3A4"/>
          </p15:clr>
        </p15:guide>
        <p15:guide id="5" pos="3912">
          <p15:clr>
            <a:srgbClr val="A4A3A4"/>
          </p15:clr>
        </p15:guide>
        <p15:guide id="6" orient="horz" pos="984">
          <p15:clr>
            <a:srgbClr val="A4A3A4"/>
          </p15:clr>
        </p15:guide>
        <p15:guide id="7" orient="horz" pos="1032">
          <p15:clr>
            <a:srgbClr val="A4A3A4"/>
          </p15:clr>
        </p15:guide>
        <p15:guide id="8" orient="horz" pos="4128">
          <p15:clr>
            <a:srgbClr val="A4A3A4"/>
          </p15:clr>
        </p15:guide>
        <p15:guide id="9" orient="horz" pos="256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j3QmW984aeg9Pae1HOjFdqpBG0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634"/>
    <a:srgbClr val="96C223"/>
    <a:srgbClr val="164075"/>
    <a:srgbClr val="205CA9"/>
    <a:srgbClr val="2F79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 autoAdjust="0"/>
    <p:restoredTop sz="94660"/>
  </p:normalViewPr>
  <p:slideViewPr>
    <p:cSldViewPr snapToGrid="0">
      <p:cViewPr varScale="1">
        <p:scale>
          <a:sx n="82" d="100"/>
          <a:sy n="82" d="100"/>
        </p:scale>
        <p:origin x="91" y="250"/>
      </p:cViewPr>
      <p:guideLst>
        <p:guide orient="horz" pos="696"/>
        <p:guide pos="3768"/>
        <p:guide pos="7560"/>
        <p:guide pos="120"/>
        <p:guide pos="3912"/>
        <p:guide orient="horz" pos="984"/>
        <p:guide orient="horz" pos="1032"/>
        <p:guide orient="horz" pos="4128"/>
        <p:guide orient="horz" pos="25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customschemas.google.com/relationships/presentationmetadata" Target="meta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" name="Google Shape;2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3B1EE41F-23A4-730C-A48B-46CDF614D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:notes">
            <a:extLst>
              <a:ext uri="{FF2B5EF4-FFF2-40B4-BE49-F238E27FC236}">
                <a16:creationId xmlns:a16="http://schemas.microsoft.com/office/drawing/2014/main" id="{F75F978E-F0C8-8A56-1C32-EA0EC8E3CC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" name="Google Shape;29;p26:notes">
            <a:extLst>
              <a:ext uri="{FF2B5EF4-FFF2-40B4-BE49-F238E27FC236}">
                <a16:creationId xmlns:a16="http://schemas.microsoft.com/office/drawing/2014/main" id="{1AFACAA4-CC34-3A08-00F6-A877438E9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58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Slide">
  <p:cSld name="Body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/>
          <p:nvPr/>
        </p:nvSpPr>
        <p:spPr>
          <a:xfrm>
            <a:off x="-1" y="-13163"/>
            <a:ext cx="10978289" cy="1041723"/>
          </a:xfrm>
          <a:custGeom>
            <a:avLst/>
            <a:gdLst/>
            <a:ahLst/>
            <a:cxnLst/>
            <a:rect l="l" t="t" r="r" b="b"/>
            <a:pathLst>
              <a:path w="8233717" h="1041722" extrusionOk="0">
                <a:moveTo>
                  <a:pt x="0" y="0"/>
                </a:moveTo>
                <a:lnTo>
                  <a:pt x="8233717" y="0"/>
                </a:lnTo>
                <a:lnTo>
                  <a:pt x="8216227" y="9493"/>
                </a:lnTo>
                <a:cubicBezTo>
                  <a:pt x="8049319" y="122254"/>
                  <a:pt x="7939581" y="313213"/>
                  <a:pt x="7939581" y="529802"/>
                </a:cubicBezTo>
                <a:cubicBezTo>
                  <a:pt x="7939581" y="703074"/>
                  <a:pt x="8009813" y="859941"/>
                  <a:pt x="8123363" y="973491"/>
                </a:cubicBezTo>
                <a:lnTo>
                  <a:pt x="8206060" y="1041722"/>
                </a:lnTo>
                <a:lnTo>
                  <a:pt x="0" y="104172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 w="12700" cap="flat" cmpd="sng">
            <a:solidFill>
              <a:srgbClr val="16407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609600" y="1220064"/>
            <a:ext cx="10972800" cy="5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sldNum" idx="12"/>
          </p:nvPr>
        </p:nvSpPr>
        <p:spPr>
          <a:xfrm>
            <a:off x="10498665" y="6615400"/>
            <a:ext cx="11360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31"/>
          <p:cNvCxnSpPr/>
          <p:nvPr/>
        </p:nvCxnSpPr>
        <p:spPr>
          <a:xfrm>
            <a:off x="215154" y="6573637"/>
            <a:ext cx="11747351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" name="Google Shape;20;p31"/>
          <p:cNvSpPr txBox="1">
            <a:spLocks noGrp="1"/>
          </p:cNvSpPr>
          <p:nvPr>
            <p:ph type="title"/>
          </p:nvPr>
        </p:nvSpPr>
        <p:spPr>
          <a:xfrm>
            <a:off x="1446028" y="178343"/>
            <a:ext cx="8816800" cy="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1" name="Google Shape;2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33904" y="94166"/>
            <a:ext cx="883245" cy="86653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1"/>
          <p:cNvSpPr txBox="1">
            <a:spLocks noGrp="1"/>
          </p:cNvSpPr>
          <p:nvPr>
            <p:ph type="body" idx="2"/>
          </p:nvPr>
        </p:nvSpPr>
        <p:spPr>
          <a:xfrm>
            <a:off x="586451" y="6627217"/>
            <a:ext cx="9776800" cy="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1pPr>
            <a:lvl2pPr marL="914400" lvl="1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sv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svg"/><Relationship Id="rId17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365760" y="182880"/>
            <a:ext cx="8816800" cy="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</a:pPr>
            <a:r>
              <a:rPr lang="en-US" sz="3000"/>
              <a:t>MPS and Weekly Schedule</a:t>
            </a:r>
            <a:endParaRPr sz="3000"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10824896" y="6600691"/>
            <a:ext cx="11360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</a:pPr>
            <a:fld id="{00000000-1234-1234-1234-123412341234}" type="slidenum">
              <a:rPr lang="en-US" sz="1050">
                <a:solidFill>
                  <a:schemeClr val="dk1"/>
                </a:solidFill>
              </a:rPr>
              <a:t>1</a:t>
            </a:fld>
            <a:endParaRPr sz="1050">
              <a:solidFill>
                <a:schemeClr val="dk1"/>
              </a:solidFill>
            </a:endParaRPr>
          </a:p>
        </p:txBody>
      </p:sp>
      <p:sp>
        <p:nvSpPr>
          <p:cNvPr id="33" name="Google Shape;33;p26"/>
          <p:cNvSpPr/>
          <p:nvPr/>
        </p:nvSpPr>
        <p:spPr>
          <a:xfrm>
            <a:off x="190500" y="1638300"/>
            <a:ext cx="4814639" cy="365760"/>
          </a:xfrm>
          <a:prstGeom prst="roundRect">
            <a:avLst>
              <a:gd name="adj" fmla="val 16667"/>
            </a:avLst>
          </a:prstGeom>
          <a:solidFill>
            <a:srgbClr val="011634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Development Overview by Week</a:t>
            </a:r>
            <a:endParaRPr sz="14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" name="Google Shape;34;p26"/>
          <p:cNvSpPr/>
          <p:nvPr/>
        </p:nvSpPr>
        <p:spPr>
          <a:xfrm>
            <a:off x="5346438" y="1638300"/>
            <a:ext cx="6655061" cy="365760"/>
          </a:xfrm>
          <a:prstGeom prst="roundRect">
            <a:avLst>
              <a:gd name="adj" fmla="val 16667"/>
            </a:avLst>
          </a:prstGeom>
          <a:solidFill>
            <a:srgbClr val="011634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6"/>
          <p:cNvSpPr txBox="1"/>
          <p:nvPr/>
        </p:nvSpPr>
        <p:spPr>
          <a:xfrm>
            <a:off x="201216" y="6570732"/>
            <a:ext cx="2870425" cy="28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Sources: N/A</a:t>
            </a:r>
            <a:endParaRPr sz="105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26"/>
          <p:cNvSpPr txBox="1"/>
          <p:nvPr/>
        </p:nvSpPr>
        <p:spPr>
          <a:xfrm>
            <a:off x="190499" y="1104900"/>
            <a:ext cx="11811001" cy="44620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Outlines our 6-week React PWA build from initial </a:t>
            </a:r>
            <a:r>
              <a:rPr lang="en-US" sz="1050" b="0" i="0" u="none" strike="noStrike" cap="none" dirty="0">
                <a:solidFill>
                  <a:srgbClr val="96C22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authentication</a:t>
            </a:r>
            <a:r>
              <a:rPr lang="en-US" sz="105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setup to full demo readiness. Details our AWS serverless backend alongside planned extensions for AI chatbot features, analytics, and automated workflows</a:t>
            </a:r>
            <a:endParaRPr sz="105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CD44CFF-6870-D4EC-A160-1CF052FE9BBE}"/>
              </a:ext>
            </a:extLst>
          </p:cNvPr>
          <p:cNvGrpSpPr/>
          <p:nvPr/>
        </p:nvGrpSpPr>
        <p:grpSpPr>
          <a:xfrm>
            <a:off x="5544323" y="2080322"/>
            <a:ext cx="6352603" cy="3278196"/>
            <a:chOff x="5544323" y="2080322"/>
            <a:chExt cx="6352603" cy="3278196"/>
          </a:xfrm>
        </p:grpSpPr>
        <p:sp>
          <p:nvSpPr>
            <p:cNvPr id="40" name="Google Shape;40;p26"/>
            <p:cNvSpPr/>
            <p:nvPr/>
          </p:nvSpPr>
          <p:spPr>
            <a:xfrm>
              <a:off x="7760505" y="2080322"/>
              <a:ext cx="1920240" cy="640080"/>
            </a:xfrm>
            <a:prstGeom prst="roundRect">
              <a:avLst>
                <a:gd name="adj" fmla="val 16667"/>
              </a:avLst>
            </a:prstGeom>
            <a:solidFill>
              <a:srgbClr val="2F79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React Web App (PWA)</a:t>
              </a:r>
              <a:endParaRPr/>
            </a:p>
          </p:txBody>
        </p:sp>
        <p:sp>
          <p:nvSpPr>
            <p:cNvPr id="41" name="Google Shape;41;p26"/>
            <p:cNvSpPr/>
            <p:nvPr/>
          </p:nvSpPr>
          <p:spPr>
            <a:xfrm>
              <a:off x="5544323" y="2959694"/>
              <a:ext cx="1920240" cy="640080"/>
            </a:xfrm>
            <a:prstGeom prst="roundRect">
              <a:avLst>
                <a:gd name="adj" fmla="val 16667"/>
              </a:avLst>
            </a:prstGeom>
            <a:solidFill>
              <a:srgbClr val="205C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Amplify Hosting</a:t>
              </a:r>
              <a:endParaRPr/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Front-End Hosting</a:t>
              </a:r>
              <a:endParaRPr/>
            </a:p>
          </p:txBody>
        </p:sp>
        <p:sp>
          <p:nvSpPr>
            <p:cNvPr id="42" name="Google Shape;42;p26"/>
            <p:cNvSpPr/>
            <p:nvPr/>
          </p:nvSpPr>
          <p:spPr>
            <a:xfrm>
              <a:off x="9976685" y="2959694"/>
              <a:ext cx="1920240" cy="640080"/>
            </a:xfrm>
            <a:prstGeom prst="roundRect">
              <a:avLst>
                <a:gd name="adj" fmla="val 16667"/>
              </a:avLst>
            </a:prstGeom>
            <a:solidFill>
              <a:srgbClr val="205C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AppSync API</a:t>
              </a:r>
              <a:endParaRPr/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GraphQL, Auth Rules</a:t>
              </a:r>
              <a:endParaRPr/>
            </a:p>
          </p:txBody>
        </p:sp>
        <p:sp>
          <p:nvSpPr>
            <p:cNvPr id="43" name="Google Shape;43;p26"/>
            <p:cNvSpPr/>
            <p:nvPr/>
          </p:nvSpPr>
          <p:spPr>
            <a:xfrm>
              <a:off x="7760505" y="2959694"/>
              <a:ext cx="1920240" cy="640080"/>
            </a:xfrm>
            <a:prstGeom prst="roundRect">
              <a:avLst>
                <a:gd name="adj" fmla="val 16667"/>
              </a:avLst>
            </a:prstGeom>
            <a:solidFill>
              <a:srgbClr val="205C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Cognito</a:t>
              </a:r>
              <a:endParaRPr/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University Sign In</a:t>
              </a:r>
              <a:endParaRPr/>
            </a:p>
          </p:txBody>
        </p:sp>
        <p:sp>
          <p:nvSpPr>
            <p:cNvPr id="44" name="Google Shape;44;p26"/>
            <p:cNvSpPr/>
            <p:nvPr/>
          </p:nvSpPr>
          <p:spPr>
            <a:xfrm>
              <a:off x="5544323" y="3839066"/>
              <a:ext cx="1920240" cy="640080"/>
            </a:xfrm>
            <a:prstGeom prst="roundRect">
              <a:avLst>
                <a:gd name="adj" fmla="val 16667"/>
              </a:avLst>
            </a:prstGeom>
            <a:solidFill>
              <a:srgbClr val="1640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S3</a:t>
              </a:r>
              <a:endParaRPr/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Docs, Flyers</a:t>
              </a:r>
              <a:endParaRPr/>
            </a:p>
          </p:txBody>
        </p:sp>
        <p:sp>
          <p:nvSpPr>
            <p:cNvPr id="45" name="Google Shape;45;p26"/>
            <p:cNvSpPr/>
            <p:nvPr/>
          </p:nvSpPr>
          <p:spPr>
            <a:xfrm>
              <a:off x="7760505" y="3839066"/>
              <a:ext cx="1920240" cy="640080"/>
            </a:xfrm>
            <a:prstGeom prst="roundRect">
              <a:avLst>
                <a:gd name="adj" fmla="val 16667"/>
              </a:avLst>
            </a:prstGeom>
            <a:solidFill>
              <a:srgbClr val="1640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Lambda</a:t>
              </a:r>
              <a:endParaRPr/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Feed .ics, Checks</a:t>
              </a:r>
              <a:endPara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" name="Google Shape;46;p26"/>
            <p:cNvSpPr/>
            <p:nvPr/>
          </p:nvSpPr>
          <p:spPr>
            <a:xfrm>
              <a:off x="9976686" y="3839066"/>
              <a:ext cx="1920240" cy="640080"/>
            </a:xfrm>
            <a:prstGeom prst="roundRect">
              <a:avLst>
                <a:gd name="adj" fmla="val 16667"/>
              </a:avLst>
            </a:prstGeom>
            <a:solidFill>
              <a:srgbClr val="1640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DynamoDB</a:t>
              </a:r>
              <a:endParaRPr/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Clubs, Events, Ledger</a:t>
              </a:r>
              <a:endParaRPr/>
            </a:p>
          </p:txBody>
        </p:sp>
        <p:sp>
          <p:nvSpPr>
            <p:cNvPr id="47" name="Google Shape;47;p26"/>
            <p:cNvSpPr/>
            <p:nvPr/>
          </p:nvSpPr>
          <p:spPr>
            <a:xfrm>
              <a:off x="7760505" y="4718438"/>
              <a:ext cx="1920240" cy="640080"/>
            </a:xfrm>
            <a:prstGeom prst="roundRect">
              <a:avLst>
                <a:gd name="adj" fmla="val 16667"/>
              </a:avLst>
            </a:prstGeom>
            <a:solidFill>
              <a:srgbClr val="0116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SES</a:t>
              </a:r>
              <a:endParaRPr/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Announcement Emails</a:t>
              </a:r>
              <a:endParaRPr/>
            </a:p>
          </p:txBody>
        </p:sp>
        <p:cxnSp>
          <p:nvCxnSpPr>
            <p:cNvPr id="48" name="Google Shape;48;p26"/>
            <p:cNvCxnSpPr>
              <a:stCxn id="40" idx="2"/>
              <a:endCxn id="43" idx="0"/>
            </p:cNvCxnSpPr>
            <p:nvPr/>
          </p:nvCxnSpPr>
          <p:spPr>
            <a:xfrm>
              <a:off x="8720625" y="2720402"/>
              <a:ext cx="0" cy="239400"/>
            </a:xfrm>
            <a:prstGeom prst="straightConnector1">
              <a:avLst/>
            </a:prstGeom>
            <a:noFill/>
            <a:ln w="15875" cap="flat" cmpd="sng">
              <a:solidFill>
                <a:srgbClr val="16407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9" name="Google Shape;49;p26"/>
            <p:cNvCxnSpPr>
              <a:stCxn id="40" idx="1"/>
              <a:endCxn id="44" idx="1"/>
            </p:cNvCxnSpPr>
            <p:nvPr/>
          </p:nvCxnSpPr>
          <p:spPr>
            <a:xfrm flipH="1">
              <a:off x="5544405" y="2400362"/>
              <a:ext cx="2216100" cy="1758600"/>
            </a:xfrm>
            <a:prstGeom prst="bentConnector3">
              <a:avLst>
                <a:gd name="adj1" fmla="val 105768"/>
              </a:avLst>
            </a:prstGeom>
            <a:noFill/>
            <a:ln w="15875" cap="flat" cmpd="sng">
              <a:solidFill>
                <a:srgbClr val="16407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0" name="Google Shape;50;p26"/>
            <p:cNvCxnSpPr>
              <a:stCxn id="40" idx="2"/>
              <a:endCxn id="41" idx="0"/>
            </p:cNvCxnSpPr>
            <p:nvPr/>
          </p:nvCxnSpPr>
          <p:spPr>
            <a:xfrm rot="5400000">
              <a:off x="7492875" y="1732052"/>
              <a:ext cx="239400" cy="2216100"/>
            </a:xfrm>
            <a:prstGeom prst="bentConnector3">
              <a:avLst>
                <a:gd name="adj1" fmla="val 50000"/>
              </a:avLst>
            </a:prstGeom>
            <a:noFill/>
            <a:ln w="15875" cap="flat" cmpd="sng">
              <a:solidFill>
                <a:srgbClr val="16407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1" name="Google Shape;51;p26"/>
            <p:cNvCxnSpPr>
              <a:stCxn id="40" idx="2"/>
              <a:endCxn id="42" idx="0"/>
            </p:cNvCxnSpPr>
            <p:nvPr/>
          </p:nvCxnSpPr>
          <p:spPr>
            <a:xfrm rot="16200000" flipH="1">
              <a:off x="9708975" y="1732052"/>
              <a:ext cx="239400" cy="2216100"/>
            </a:xfrm>
            <a:prstGeom prst="bentConnector3">
              <a:avLst>
                <a:gd name="adj1" fmla="val 50000"/>
              </a:avLst>
            </a:prstGeom>
            <a:noFill/>
            <a:ln w="15875" cap="flat" cmpd="sng">
              <a:solidFill>
                <a:srgbClr val="16407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2" name="Google Shape;52;p26"/>
            <p:cNvCxnSpPr>
              <a:cxnSpLocks/>
              <a:stCxn id="42" idx="2"/>
              <a:endCxn id="45" idx="0"/>
            </p:cNvCxnSpPr>
            <p:nvPr/>
          </p:nvCxnSpPr>
          <p:spPr>
            <a:xfrm rot="5400000">
              <a:off x="9709069" y="2611330"/>
              <a:ext cx="239292" cy="2216180"/>
            </a:xfrm>
            <a:prstGeom prst="bentConnector3">
              <a:avLst>
                <a:gd name="adj1" fmla="val 50000"/>
              </a:avLst>
            </a:prstGeom>
            <a:noFill/>
            <a:ln w="15875" cap="flat" cmpd="sng">
              <a:solidFill>
                <a:srgbClr val="16407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3" name="Google Shape;53;p26"/>
            <p:cNvCxnSpPr>
              <a:stCxn id="42" idx="2"/>
              <a:endCxn id="46" idx="0"/>
            </p:cNvCxnSpPr>
            <p:nvPr/>
          </p:nvCxnSpPr>
          <p:spPr>
            <a:xfrm>
              <a:off x="10936805" y="3599774"/>
              <a:ext cx="0" cy="239400"/>
            </a:xfrm>
            <a:prstGeom prst="straightConnector1">
              <a:avLst/>
            </a:prstGeom>
            <a:noFill/>
            <a:ln w="15875" cap="flat" cmpd="sng">
              <a:solidFill>
                <a:srgbClr val="16407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" name="Google Shape;54;p26"/>
            <p:cNvCxnSpPr>
              <a:cxnSpLocks/>
              <a:stCxn id="45" idx="3"/>
              <a:endCxn id="46" idx="1"/>
            </p:cNvCxnSpPr>
            <p:nvPr/>
          </p:nvCxnSpPr>
          <p:spPr>
            <a:xfrm>
              <a:off x="9680745" y="4159106"/>
              <a:ext cx="295941" cy="0"/>
            </a:xfrm>
            <a:prstGeom prst="straightConnector1">
              <a:avLst/>
            </a:prstGeom>
            <a:noFill/>
            <a:ln w="15875" cap="flat" cmpd="sng">
              <a:solidFill>
                <a:srgbClr val="164075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5" name="Google Shape;55;p26"/>
            <p:cNvCxnSpPr>
              <a:cxnSpLocks/>
              <a:stCxn id="44" idx="3"/>
              <a:endCxn id="45" idx="1"/>
            </p:cNvCxnSpPr>
            <p:nvPr/>
          </p:nvCxnSpPr>
          <p:spPr>
            <a:xfrm>
              <a:off x="7464563" y="4159106"/>
              <a:ext cx="295942" cy="0"/>
            </a:xfrm>
            <a:prstGeom prst="straightConnector1">
              <a:avLst/>
            </a:prstGeom>
            <a:noFill/>
            <a:ln w="15875" cap="flat" cmpd="sng">
              <a:solidFill>
                <a:srgbClr val="164075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6" name="Google Shape;56;p26"/>
            <p:cNvCxnSpPr>
              <a:cxnSpLocks/>
              <a:stCxn id="45" idx="2"/>
              <a:endCxn id="47" idx="0"/>
            </p:cNvCxnSpPr>
            <p:nvPr/>
          </p:nvCxnSpPr>
          <p:spPr>
            <a:xfrm>
              <a:off x="8720625" y="4479146"/>
              <a:ext cx="0" cy="239292"/>
            </a:xfrm>
            <a:prstGeom prst="straightConnector1">
              <a:avLst/>
            </a:prstGeom>
            <a:noFill/>
            <a:ln w="15875" cap="flat" cmpd="sng">
              <a:solidFill>
                <a:srgbClr val="16407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57" name="Google Shape;57;p26"/>
          <p:cNvGrpSpPr/>
          <p:nvPr/>
        </p:nvGrpSpPr>
        <p:grpSpPr>
          <a:xfrm>
            <a:off x="190499" y="2025260"/>
            <a:ext cx="1386374" cy="4521200"/>
            <a:chOff x="0" y="2539"/>
            <a:chExt cx="1386374" cy="4521200"/>
          </a:xfrm>
        </p:grpSpPr>
        <p:sp>
          <p:nvSpPr>
            <p:cNvPr id="58" name="Google Shape;58;p26"/>
            <p:cNvSpPr/>
            <p:nvPr/>
          </p:nvSpPr>
          <p:spPr>
            <a:xfrm>
              <a:off x="0" y="2539"/>
              <a:ext cx="1386374" cy="639456"/>
            </a:xfrm>
            <a:prstGeom prst="roundRect">
              <a:avLst>
                <a:gd name="adj" fmla="val 10000"/>
              </a:avLst>
            </a:prstGeom>
            <a:solidFill>
              <a:srgbClr val="2F7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6"/>
            <p:cNvSpPr txBox="1"/>
            <p:nvPr/>
          </p:nvSpPr>
          <p:spPr>
            <a:xfrm>
              <a:off x="18729" y="21268"/>
              <a:ext cx="1348916" cy="601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Week 00</a:t>
              </a:r>
              <a:endParaRPr/>
            </a:p>
          </p:txBody>
        </p:sp>
        <p:sp>
          <p:nvSpPr>
            <p:cNvPr id="60" name="Google Shape;60;p26"/>
            <p:cNvSpPr/>
            <p:nvPr/>
          </p:nvSpPr>
          <p:spPr>
            <a:xfrm rot="5400000">
              <a:off x="490106" y="527601"/>
              <a:ext cx="406161" cy="365681"/>
            </a:xfrm>
            <a:prstGeom prst="rightArrow">
              <a:avLst>
                <a:gd name="adj1" fmla="val 60000"/>
                <a:gd name="adj2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6"/>
            <p:cNvSpPr txBox="1"/>
            <p:nvPr/>
          </p:nvSpPr>
          <p:spPr>
            <a:xfrm>
              <a:off x="583482" y="507361"/>
              <a:ext cx="219409" cy="2964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" name="Google Shape;62;p26"/>
            <p:cNvSpPr/>
            <p:nvPr/>
          </p:nvSpPr>
          <p:spPr>
            <a:xfrm>
              <a:off x="0" y="778888"/>
              <a:ext cx="1386374" cy="639456"/>
            </a:xfrm>
            <a:prstGeom prst="roundRect">
              <a:avLst>
                <a:gd name="adj" fmla="val 10000"/>
              </a:avLst>
            </a:prstGeom>
            <a:solidFill>
              <a:srgbClr val="2F7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6"/>
            <p:cNvSpPr txBox="1"/>
            <p:nvPr/>
          </p:nvSpPr>
          <p:spPr>
            <a:xfrm>
              <a:off x="18729" y="797617"/>
              <a:ext cx="1348916" cy="601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Week 01</a:t>
              </a:r>
              <a:endParaRPr/>
            </a:p>
          </p:txBody>
        </p:sp>
        <p:sp>
          <p:nvSpPr>
            <p:cNvPr id="64" name="Google Shape;64;p26"/>
            <p:cNvSpPr/>
            <p:nvPr/>
          </p:nvSpPr>
          <p:spPr>
            <a:xfrm rot="5400000">
              <a:off x="645851" y="1414374"/>
              <a:ext cx="94671" cy="144833"/>
            </a:xfrm>
            <a:prstGeom prst="rightArrow">
              <a:avLst>
                <a:gd name="adj1" fmla="val 60000"/>
                <a:gd name="adj2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6"/>
            <p:cNvSpPr txBox="1"/>
            <p:nvPr/>
          </p:nvSpPr>
          <p:spPr>
            <a:xfrm>
              <a:off x="649738" y="1439455"/>
              <a:ext cx="86899" cy="66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" name="Google Shape;66;p26"/>
            <p:cNvSpPr/>
            <p:nvPr/>
          </p:nvSpPr>
          <p:spPr>
            <a:xfrm>
              <a:off x="0" y="1555237"/>
              <a:ext cx="1386374" cy="639456"/>
            </a:xfrm>
            <a:prstGeom prst="roundRect">
              <a:avLst>
                <a:gd name="adj" fmla="val 10000"/>
              </a:avLst>
            </a:prstGeom>
            <a:solidFill>
              <a:srgbClr val="2F7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6"/>
            <p:cNvSpPr txBox="1"/>
            <p:nvPr/>
          </p:nvSpPr>
          <p:spPr>
            <a:xfrm>
              <a:off x="18729" y="1573966"/>
              <a:ext cx="1348916" cy="601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Week 02</a:t>
              </a:r>
              <a:endParaRPr/>
            </a:p>
          </p:txBody>
        </p:sp>
        <p:sp>
          <p:nvSpPr>
            <p:cNvPr id="68" name="Google Shape;68;p26"/>
            <p:cNvSpPr/>
            <p:nvPr/>
          </p:nvSpPr>
          <p:spPr>
            <a:xfrm rot="5400000">
              <a:off x="645851" y="2190723"/>
              <a:ext cx="94671" cy="144833"/>
            </a:xfrm>
            <a:prstGeom prst="rightArrow">
              <a:avLst>
                <a:gd name="adj1" fmla="val 60000"/>
                <a:gd name="adj2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6"/>
            <p:cNvSpPr txBox="1"/>
            <p:nvPr/>
          </p:nvSpPr>
          <p:spPr>
            <a:xfrm>
              <a:off x="649738" y="2215804"/>
              <a:ext cx="86899" cy="66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" name="Google Shape;70;p26"/>
            <p:cNvSpPr/>
            <p:nvPr/>
          </p:nvSpPr>
          <p:spPr>
            <a:xfrm>
              <a:off x="0" y="2331586"/>
              <a:ext cx="1386374" cy="639456"/>
            </a:xfrm>
            <a:prstGeom prst="roundRect">
              <a:avLst>
                <a:gd name="adj" fmla="val 10000"/>
              </a:avLst>
            </a:prstGeom>
            <a:solidFill>
              <a:srgbClr val="2F7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6"/>
            <p:cNvSpPr txBox="1"/>
            <p:nvPr/>
          </p:nvSpPr>
          <p:spPr>
            <a:xfrm>
              <a:off x="18729" y="2350315"/>
              <a:ext cx="1348916" cy="601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Week 03</a:t>
              </a:r>
              <a:endParaRPr/>
            </a:p>
          </p:txBody>
        </p:sp>
        <p:sp>
          <p:nvSpPr>
            <p:cNvPr id="72" name="Google Shape;72;p26"/>
            <p:cNvSpPr/>
            <p:nvPr/>
          </p:nvSpPr>
          <p:spPr>
            <a:xfrm rot="5400000">
              <a:off x="645851" y="2967071"/>
              <a:ext cx="94671" cy="144833"/>
            </a:xfrm>
            <a:prstGeom prst="rightArrow">
              <a:avLst>
                <a:gd name="adj1" fmla="val 60000"/>
                <a:gd name="adj2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6"/>
            <p:cNvSpPr txBox="1"/>
            <p:nvPr/>
          </p:nvSpPr>
          <p:spPr>
            <a:xfrm>
              <a:off x="649738" y="2992152"/>
              <a:ext cx="86899" cy="66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4" name="Google Shape;74;p26"/>
            <p:cNvSpPr/>
            <p:nvPr/>
          </p:nvSpPr>
          <p:spPr>
            <a:xfrm>
              <a:off x="0" y="3107934"/>
              <a:ext cx="1386374" cy="639456"/>
            </a:xfrm>
            <a:prstGeom prst="roundRect">
              <a:avLst>
                <a:gd name="adj" fmla="val 10000"/>
              </a:avLst>
            </a:prstGeom>
            <a:solidFill>
              <a:srgbClr val="2F7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6"/>
            <p:cNvSpPr txBox="1"/>
            <p:nvPr/>
          </p:nvSpPr>
          <p:spPr>
            <a:xfrm>
              <a:off x="18729" y="3126663"/>
              <a:ext cx="1348916" cy="601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Week 04</a:t>
              </a:r>
              <a:endParaRPr/>
            </a:p>
          </p:txBody>
        </p:sp>
        <p:sp>
          <p:nvSpPr>
            <p:cNvPr id="76" name="Google Shape;76;p26"/>
            <p:cNvSpPr/>
            <p:nvPr/>
          </p:nvSpPr>
          <p:spPr>
            <a:xfrm rot="5400000">
              <a:off x="645851" y="3743420"/>
              <a:ext cx="94671" cy="144833"/>
            </a:xfrm>
            <a:prstGeom prst="rightArrow">
              <a:avLst>
                <a:gd name="adj1" fmla="val 60000"/>
                <a:gd name="adj2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6"/>
            <p:cNvSpPr txBox="1"/>
            <p:nvPr/>
          </p:nvSpPr>
          <p:spPr>
            <a:xfrm>
              <a:off x="649738" y="3768501"/>
              <a:ext cx="86899" cy="66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8" name="Google Shape;78;p26"/>
            <p:cNvSpPr/>
            <p:nvPr/>
          </p:nvSpPr>
          <p:spPr>
            <a:xfrm>
              <a:off x="0" y="3884283"/>
              <a:ext cx="1386374" cy="639456"/>
            </a:xfrm>
            <a:prstGeom prst="roundRect">
              <a:avLst>
                <a:gd name="adj" fmla="val 10000"/>
              </a:avLst>
            </a:prstGeom>
            <a:solidFill>
              <a:srgbClr val="2F7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6"/>
            <p:cNvSpPr txBox="1"/>
            <p:nvPr/>
          </p:nvSpPr>
          <p:spPr>
            <a:xfrm>
              <a:off x="18729" y="3903012"/>
              <a:ext cx="1348916" cy="601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Week 05</a:t>
              </a:r>
              <a:endParaRPr/>
            </a:p>
          </p:txBody>
        </p:sp>
      </p:grpSp>
      <p:sp>
        <p:nvSpPr>
          <p:cNvPr id="80" name="Google Shape;80;p26"/>
          <p:cNvSpPr/>
          <p:nvPr/>
        </p:nvSpPr>
        <p:spPr>
          <a:xfrm>
            <a:off x="5346438" y="5463789"/>
            <a:ext cx="6655059" cy="1048099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96C22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" name="Google Shape;81;p26"/>
          <p:cNvGrpSpPr/>
          <p:nvPr/>
        </p:nvGrpSpPr>
        <p:grpSpPr>
          <a:xfrm>
            <a:off x="1724266" y="2025668"/>
            <a:ext cx="3280872" cy="4520384"/>
            <a:chOff x="0" y="2947"/>
            <a:chExt cx="3280872" cy="4520384"/>
          </a:xfrm>
        </p:grpSpPr>
        <p:sp>
          <p:nvSpPr>
            <p:cNvPr id="82" name="Google Shape;82;p26"/>
            <p:cNvSpPr/>
            <p:nvPr/>
          </p:nvSpPr>
          <p:spPr>
            <a:xfrm>
              <a:off x="0" y="2947"/>
              <a:ext cx="3280872" cy="639435"/>
            </a:xfrm>
            <a:prstGeom prst="roundRect">
              <a:avLst>
                <a:gd name="adj" fmla="val 10000"/>
              </a:avLst>
            </a:prstGeom>
            <a:solidFill>
              <a:srgbClr val="205C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6"/>
            <p:cNvSpPr txBox="1"/>
            <p:nvPr/>
          </p:nvSpPr>
          <p:spPr>
            <a:xfrm>
              <a:off x="18728" y="21675"/>
              <a:ext cx="3243416" cy="601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Create MPS, allocate work across   divisions and weeks, begin work               on Amplify Scaffold.</a:t>
              </a:r>
              <a:endParaRPr/>
            </a:p>
          </p:txBody>
        </p:sp>
        <p:sp>
          <p:nvSpPr>
            <p:cNvPr id="84" name="Google Shape;84;p26"/>
            <p:cNvSpPr/>
            <p:nvPr/>
          </p:nvSpPr>
          <p:spPr>
            <a:xfrm rot="5400000">
              <a:off x="1589153" y="649221"/>
              <a:ext cx="102565" cy="123078"/>
            </a:xfrm>
            <a:prstGeom prst="rightArrow">
              <a:avLst>
                <a:gd name="adj1" fmla="val 60000"/>
                <a:gd name="adj2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6"/>
            <p:cNvSpPr txBox="1"/>
            <p:nvPr/>
          </p:nvSpPr>
          <p:spPr>
            <a:xfrm>
              <a:off x="1603513" y="659478"/>
              <a:ext cx="73846" cy="717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6" name="Google Shape;86;p26"/>
            <p:cNvSpPr/>
            <p:nvPr/>
          </p:nvSpPr>
          <p:spPr>
            <a:xfrm>
              <a:off x="0" y="779137"/>
              <a:ext cx="3280872" cy="639435"/>
            </a:xfrm>
            <a:prstGeom prst="roundRect">
              <a:avLst>
                <a:gd name="adj" fmla="val 10000"/>
              </a:avLst>
            </a:prstGeom>
            <a:solidFill>
              <a:srgbClr val="205C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6"/>
            <p:cNvSpPr txBox="1"/>
            <p:nvPr/>
          </p:nvSpPr>
          <p:spPr>
            <a:xfrm>
              <a:off x="18728" y="797865"/>
              <a:ext cx="3243416" cy="601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Sign-in works for university email,         create accessible data and      descriptions for ~30 realistic clubs</a:t>
              </a:r>
              <a:endParaRPr/>
            </a:p>
          </p:txBody>
        </p:sp>
        <p:sp>
          <p:nvSpPr>
            <p:cNvPr id="88" name="Google Shape;88;p26"/>
            <p:cNvSpPr/>
            <p:nvPr/>
          </p:nvSpPr>
          <p:spPr>
            <a:xfrm rot="5400000">
              <a:off x="1589153" y="1425410"/>
              <a:ext cx="102565" cy="123078"/>
            </a:xfrm>
            <a:prstGeom prst="rightArrow">
              <a:avLst>
                <a:gd name="adj1" fmla="val 60000"/>
                <a:gd name="adj2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6"/>
            <p:cNvSpPr txBox="1"/>
            <p:nvPr/>
          </p:nvSpPr>
          <p:spPr>
            <a:xfrm>
              <a:off x="1603513" y="1435667"/>
              <a:ext cx="73846" cy="717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" name="Google Shape;90;p26"/>
            <p:cNvSpPr/>
            <p:nvPr/>
          </p:nvSpPr>
          <p:spPr>
            <a:xfrm>
              <a:off x="0" y="1555327"/>
              <a:ext cx="3280872" cy="639435"/>
            </a:xfrm>
            <a:prstGeom prst="roundRect">
              <a:avLst>
                <a:gd name="adj" fmla="val 10000"/>
              </a:avLst>
            </a:prstGeom>
            <a:solidFill>
              <a:srgbClr val="205C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6"/>
            <p:cNvSpPr txBox="1"/>
            <p:nvPr/>
          </p:nvSpPr>
          <p:spPr>
            <a:xfrm>
              <a:off x="18728" y="1574055"/>
              <a:ext cx="3243416" cy="601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Join/leave, officer role enforced, create events, RSVP, announcements,               the inbox, search/filter</a:t>
              </a:r>
              <a:endPara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" name="Google Shape;92;p26"/>
            <p:cNvSpPr/>
            <p:nvPr/>
          </p:nvSpPr>
          <p:spPr>
            <a:xfrm rot="5400000">
              <a:off x="1589153" y="2201600"/>
              <a:ext cx="102565" cy="123078"/>
            </a:xfrm>
            <a:prstGeom prst="rightArrow">
              <a:avLst>
                <a:gd name="adj1" fmla="val 60000"/>
                <a:gd name="adj2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6"/>
            <p:cNvSpPr txBox="1"/>
            <p:nvPr/>
          </p:nvSpPr>
          <p:spPr>
            <a:xfrm>
              <a:off x="1603513" y="2211857"/>
              <a:ext cx="73846" cy="717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" name="Google Shape;94;p26"/>
            <p:cNvSpPr/>
            <p:nvPr/>
          </p:nvSpPr>
          <p:spPr>
            <a:xfrm>
              <a:off x="0" y="2331517"/>
              <a:ext cx="3280872" cy="639435"/>
            </a:xfrm>
            <a:prstGeom prst="roundRect">
              <a:avLst>
                <a:gd name="adj" fmla="val 10000"/>
              </a:avLst>
            </a:prstGeom>
            <a:solidFill>
              <a:srgbClr val="205C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6"/>
            <p:cNvSpPr txBox="1"/>
            <p:nvPr/>
          </p:nvSpPr>
          <p:spPr>
            <a:xfrm>
              <a:off x="18728" y="2350245"/>
              <a:ext cx="3243416" cy="601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Discover feed ranking, calendar view, .ics export, ledger, document upload</a:t>
              </a:r>
              <a:endPara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" name="Google Shape;96;p26"/>
            <p:cNvSpPr/>
            <p:nvPr/>
          </p:nvSpPr>
          <p:spPr>
            <a:xfrm rot="5400000">
              <a:off x="1589153" y="2977790"/>
              <a:ext cx="102565" cy="123078"/>
            </a:xfrm>
            <a:prstGeom prst="rightArrow">
              <a:avLst>
                <a:gd name="adj1" fmla="val 60000"/>
                <a:gd name="adj2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6"/>
            <p:cNvSpPr txBox="1"/>
            <p:nvPr/>
          </p:nvSpPr>
          <p:spPr>
            <a:xfrm>
              <a:off x="1603513" y="2988047"/>
              <a:ext cx="73846" cy="717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8" name="Google Shape;98;p26"/>
            <p:cNvSpPr/>
            <p:nvPr/>
          </p:nvSpPr>
          <p:spPr>
            <a:xfrm>
              <a:off x="0" y="3107706"/>
              <a:ext cx="3280872" cy="639435"/>
            </a:xfrm>
            <a:prstGeom prst="roundRect">
              <a:avLst>
                <a:gd name="adj" fmla="val 10000"/>
              </a:avLst>
            </a:prstGeom>
            <a:solidFill>
              <a:srgbClr val="205C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6"/>
            <p:cNvSpPr txBox="1"/>
            <p:nvPr/>
          </p:nvSpPr>
          <p:spPr>
            <a:xfrm>
              <a:off x="18728" y="3126434"/>
              <a:ext cx="3243416" cy="601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Stretch goals only if weeks 0–3 are done. SES emails, bug bash, main deployed to the demo URL, realistic seed data</a:t>
              </a:r>
              <a:endParaRPr sz="1200" b="0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0" name="Google Shape;100;p26"/>
            <p:cNvSpPr/>
            <p:nvPr/>
          </p:nvSpPr>
          <p:spPr>
            <a:xfrm rot="5400000">
              <a:off x="1589153" y="3753980"/>
              <a:ext cx="102565" cy="123078"/>
            </a:xfrm>
            <a:prstGeom prst="rightArrow">
              <a:avLst>
                <a:gd name="adj1" fmla="val 60000"/>
                <a:gd name="adj2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6"/>
            <p:cNvSpPr txBox="1"/>
            <p:nvPr/>
          </p:nvSpPr>
          <p:spPr>
            <a:xfrm>
              <a:off x="1603513" y="3764237"/>
              <a:ext cx="73846" cy="717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2" name="Google Shape;102;p26"/>
            <p:cNvSpPr/>
            <p:nvPr/>
          </p:nvSpPr>
          <p:spPr>
            <a:xfrm>
              <a:off x="0" y="3883896"/>
              <a:ext cx="3280872" cy="639435"/>
            </a:xfrm>
            <a:prstGeom prst="roundRect">
              <a:avLst>
                <a:gd name="adj" fmla="val 10000"/>
              </a:avLst>
            </a:prstGeom>
            <a:solidFill>
              <a:srgbClr val="205C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6"/>
            <p:cNvSpPr txBox="1"/>
            <p:nvPr/>
          </p:nvSpPr>
          <p:spPr>
            <a:xfrm>
              <a:off x="18728" y="3902624"/>
              <a:ext cx="3243416" cy="601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Rehearsed demo path, backup screen recording of the demo, architecture and cost slides, Q&amp;A prep</a:t>
              </a:r>
              <a:endPara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" name="Google Shape;104;p26" descr="Projector screen with solid fill"/>
          <p:cNvSpPr/>
          <p:nvPr/>
        </p:nvSpPr>
        <p:spPr>
          <a:xfrm>
            <a:off x="1414285" y="60064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Google Shape;105;p26" descr="Bullseye with solid fill"/>
          <p:cNvSpPr/>
          <p:nvPr/>
        </p:nvSpPr>
        <p:spPr>
          <a:xfrm>
            <a:off x="1407828" y="52061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Google Shape;106;p26" descr="Upload with solid fill"/>
          <p:cNvSpPr/>
          <p:nvPr/>
        </p:nvSpPr>
        <p:spPr>
          <a:xfrm>
            <a:off x="1407828" y="36674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Google Shape;107;p26" descr="Comment Important with solid fill"/>
          <p:cNvSpPr/>
          <p:nvPr/>
        </p:nvSpPr>
        <p:spPr>
          <a:xfrm>
            <a:off x="1407828" y="448983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Google Shape;108;p26" descr="Social network with solid fill"/>
          <p:cNvSpPr/>
          <p:nvPr/>
        </p:nvSpPr>
        <p:spPr>
          <a:xfrm>
            <a:off x="1407828" y="28747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Google Shape;109;p26" descr="Monthly calendar with solid fill"/>
          <p:cNvSpPr/>
          <p:nvPr/>
        </p:nvSpPr>
        <p:spPr>
          <a:xfrm>
            <a:off x="1407828" y="206355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Google Shape;110;p26"/>
          <p:cNvSpPr/>
          <p:nvPr/>
        </p:nvSpPr>
        <p:spPr>
          <a:xfrm>
            <a:off x="655086" y="2543395"/>
            <a:ext cx="457200" cy="35401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640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655086" y="5652403"/>
            <a:ext cx="457200" cy="35401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640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655086" y="4875151"/>
            <a:ext cx="457200" cy="35401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640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655086" y="4097899"/>
            <a:ext cx="457200" cy="35401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640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6"/>
          <p:cNvSpPr/>
          <p:nvPr/>
        </p:nvSpPr>
        <p:spPr>
          <a:xfrm>
            <a:off x="655086" y="3320647"/>
            <a:ext cx="457200" cy="35401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640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6"/>
          <p:cNvSpPr txBox="1"/>
          <p:nvPr/>
        </p:nvSpPr>
        <p:spPr>
          <a:xfrm>
            <a:off x="6098714" y="5453323"/>
            <a:ext cx="51099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96C22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Future Implementations Given a Longer Timeline</a:t>
            </a:r>
            <a:endParaRPr/>
          </a:p>
        </p:txBody>
      </p:sp>
      <p:sp>
        <p:nvSpPr>
          <p:cNvPr id="116" name="Google Shape;116;p26"/>
          <p:cNvSpPr/>
          <p:nvPr/>
        </p:nvSpPr>
        <p:spPr>
          <a:xfrm>
            <a:off x="5454844" y="5744089"/>
            <a:ext cx="1920240" cy="640080"/>
          </a:xfrm>
          <a:prstGeom prst="roundRect">
            <a:avLst>
              <a:gd name="adj" fmla="val 16667"/>
            </a:avLst>
          </a:prstGeom>
          <a:solidFill>
            <a:srgbClr val="96C223">
              <a:alpha val="50196"/>
            </a:srgbClr>
          </a:solidFill>
          <a:ln w="19050" cap="flat" cmpd="sng">
            <a:solidFill>
              <a:srgbClr val="01163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1163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Bedrock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1163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AI Chatbot/Images</a:t>
            </a:r>
            <a:endParaRPr/>
          </a:p>
        </p:txBody>
      </p:sp>
      <p:sp>
        <p:nvSpPr>
          <p:cNvPr id="117" name="Google Shape;117;p26"/>
          <p:cNvSpPr/>
          <p:nvPr/>
        </p:nvSpPr>
        <p:spPr>
          <a:xfrm>
            <a:off x="7715765" y="5744089"/>
            <a:ext cx="1920240" cy="640080"/>
          </a:xfrm>
          <a:prstGeom prst="roundRect">
            <a:avLst>
              <a:gd name="adj" fmla="val 16667"/>
            </a:avLst>
          </a:prstGeom>
          <a:solidFill>
            <a:srgbClr val="96C223">
              <a:alpha val="50196"/>
            </a:srgbClr>
          </a:solidFill>
          <a:ln w="19050" cap="flat" cmpd="sng">
            <a:solidFill>
              <a:srgbClr val="01163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1163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QuickSight</a:t>
            </a:r>
            <a:endParaRPr sz="1400" b="1" i="0" u="none" strike="noStrike" cap="none" dirty="0">
              <a:solidFill>
                <a:srgbClr val="01163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1163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Analytics Dashboard</a:t>
            </a:r>
            <a:endParaRPr dirty="0"/>
          </a:p>
        </p:txBody>
      </p:sp>
      <p:sp>
        <p:nvSpPr>
          <p:cNvPr id="118" name="Google Shape;118;p26"/>
          <p:cNvSpPr/>
          <p:nvPr/>
        </p:nvSpPr>
        <p:spPr>
          <a:xfrm>
            <a:off x="9976685" y="5744089"/>
            <a:ext cx="1920240" cy="640080"/>
          </a:xfrm>
          <a:prstGeom prst="roundRect">
            <a:avLst>
              <a:gd name="adj" fmla="val 16667"/>
            </a:avLst>
          </a:prstGeom>
          <a:solidFill>
            <a:srgbClr val="96C223">
              <a:alpha val="50196"/>
            </a:srgbClr>
          </a:solidFill>
          <a:ln w="19050" cap="flat" cmpd="sng">
            <a:solidFill>
              <a:srgbClr val="01163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1163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EventBridge</a:t>
            </a:r>
            <a:endParaRPr sz="1400" b="1" i="0" u="none" strike="noStrike" cap="none" dirty="0">
              <a:solidFill>
                <a:srgbClr val="01163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1163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Event-Driven Actions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">
          <a:extLst>
            <a:ext uri="{FF2B5EF4-FFF2-40B4-BE49-F238E27FC236}">
              <a16:creationId xmlns:a16="http://schemas.microsoft.com/office/drawing/2014/main" id="{BB93752F-655D-0FD0-AD0C-737459E0F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>
            <a:extLst>
              <a:ext uri="{FF2B5EF4-FFF2-40B4-BE49-F238E27FC236}">
                <a16:creationId xmlns:a16="http://schemas.microsoft.com/office/drawing/2014/main" id="{3D3C621F-FF17-4819-17EE-5EC044591B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760" y="182880"/>
            <a:ext cx="8816800" cy="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</a:pPr>
            <a:r>
              <a:rPr lang="en-US" sz="3000">
                <a:latin typeface="Century Gothic" panose="020B0502020202020204" pitchFamily="34" charset="0"/>
              </a:rPr>
              <a:t>MPS and Weekly Schedule</a:t>
            </a:r>
            <a:endParaRPr sz="3000">
              <a:latin typeface="Century Gothic" panose="020B0502020202020204" pitchFamily="34" charset="0"/>
            </a:endParaRPr>
          </a:p>
        </p:txBody>
      </p:sp>
      <p:sp>
        <p:nvSpPr>
          <p:cNvPr id="32" name="Google Shape;32;p26">
            <a:extLst>
              <a:ext uri="{FF2B5EF4-FFF2-40B4-BE49-F238E27FC236}">
                <a16:creationId xmlns:a16="http://schemas.microsoft.com/office/drawing/2014/main" id="{A56022A8-0742-5632-828B-7656544D67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24896" y="6600691"/>
            <a:ext cx="11360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entury Gothic" panose="020B0502020202020204" pitchFamily="34" charset="0"/>
              </a:rPr>
              <a:t>2</a:t>
            </a:fld>
            <a:endParaRPr sz="1050">
              <a:solidFill>
                <a:schemeClr val="dk1"/>
              </a:solidFill>
              <a:latin typeface="Century Gothic" panose="020B0502020202020204" pitchFamily="34" charset="0"/>
            </a:endParaRPr>
          </a:p>
        </p:txBody>
      </p:sp>
      <p:sp>
        <p:nvSpPr>
          <p:cNvPr id="33" name="Google Shape;33;p26">
            <a:extLst>
              <a:ext uri="{FF2B5EF4-FFF2-40B4-BE49-F238E27FC236}">
                <a16:creationId xmlns:a16="http://schemas.microsoft.com/office/drawing/2014/main" id="{471FB3DB-CEBD-CBA0-0686-C82B238AC95E}"/>
              </a:ext>
            </a:extLst>
          </p:cNvPr>
          <p:cNvSpPr/>
          <p:nvPr/>
        </p:nvSpPr>
        <p:spPr>
          <a:xfrm>
            <a:off x="190499" y="1638300"/>
            <a:ext cx="11811001" cy="365760"/>
          </a:xfrm>
          <a:prstGeom prst="roundRect">
            <a:avLst>
              <a:gd name="adj" fmla="val 16667"/>
            </a:avLst>
          </a:prstGeom>
          <a:solidFill>
            <a:srgbClr val="011634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Development Stack </a:t>
            </a:r>
            <a:endParaRPr sz="1400" b="1" i="0" u="none" strike="noStrike" cap="none" dirty="0">
              <a:solidFill>
                <a:schemeClr val="lt1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" name="Google Shape;35;p26">
            <a:extLst>
              <a:ext uri="{FF2B5EF4-FFF2-40B4-BE49-F238E27FC236}">
                <a16:creationId xmlns:a16="http://schemas.microsoft.com/office/drawing/2014/main" id="{F691779B-31B3-90C2-2448-7D41D8BD0217}"/>
              </a:ext>
            </a:extLst>
          </p:cNvPr>
          <p:cNvSpPr txBox="1"/>
          <p:nvPr/>
        </p:nvSpPr>
        <p:spPr>
          <a:xfrm>
            <a:off x="201216" y="6570732"/>
            <a:ext cx="2870425" cy="28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Sources: N/A</a:t>
            </a:r>
            <a:endParaRPr sz="1050" b="0" i="0" u="none" strike="noStrike" cap="none">
              <a:solidFill>
                <a:schemeClr val="dk1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26">
            <a:extLst>
              <a:ext uri="{FF2B5EF4-FFF2-40B4-BE49-F238E27FC236}">
                <a16:creationId xmlns:a16="http://schemas.microsoft.com/office/drawing/2014/main" id="{56DC580B-A0FC-F5D0-277F-2FE2A76C093A}"/>
              </a:ext>
            </a:extLst>
          </p:cNvPr>
          <p:cNvSpPr txBox="1"/>
          <p:nvPr/>
        </p:nvSpPr>
        <p:spPr>
          <a:xfrm>
            <a:off x="190499" y="1104900"/>
            <a:ext cx="11811001" cy="28462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WORK IN PROGRESS</a:t>
            </a:r>
            <a:endParaRPr sz="105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" name="Picture 1" descr="Amazon Bedrock Integrations | Connect Your Apps with Zapier">
            <a:extLst>
              <a:ext uri="{FF2B5EF4-FFF2-40B4-BE49-F238E27FC236}">
                <a16:creationId xmlns:a16="http://schemas.microsoft.com/office/drawing/2014/main" id="{9668FA9B-C6DE-B3B4-F87A-8068714FD4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19" t="3827" r="3824" b="3827"/>
          <a:stretch>
            <a:fillRect/>
          </a:stretch>
        </p:blipFill>
        <p:spPr>
          <a:xfrm>
            <a:off x="9895412" y="3698930"/>
            <a:ext cx="457200" cy="457200"/>
          </a:xfrm>
          <a:prstGeom prst="rect">
            <a:avLst/>
          </a:prstGeom>
          <a:ln w="15875">
            <a:solidFill>
              <a:schemeClr val="accent1">
                <a:shade val="15000"/>
              </a:schemeClr>
            </a:solidFill>
          </a:ln>
        </p:spPr>
      </p:pic>
      <p:pic>
        <p:nvPicPr>
          <p:cNvPr id="3" name="Picture 2" descr="Amazon Quicksight Logo PNG Transparent &amp; SVG Vector - Freebie Supply">
            <a:extLst>
              <a:ext uri="{FF2B5EF4-FFF2-40B4-BE49-F238E27FC236}">
                <a16:creationId xmlns:a16="http://schemas.microsoft.com/office/drawing/2014/main" id="{42D005EF-6B39-C956-D530-FB3B4BD7F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945" y="5188682"/>
            <a:ext cx="457200" cy="457200"/>
          </a:xfrm>
          <a:prstGeom prst="rect">
            <a:avLst/>
          </a:prstGeom>
          <a:ln w="15875">
            <a:solidFill>
              <a:schemeClr val="accent1">
                <a:shade val="15000"/>
              </a:schemeClr>
            </a:solidFill>
          </a:ln>
        </p:spPr>
      </p:pic>
      <p:pic>
        <p:nvPicPr>
          <p:cNvPr id="14" name="Picture 13" descr="AWS Amplify Guide: Build Full-Stack Apps Fast (2026)">
            <a:extLst>
              <a:ext uri="{FF2B5EF4-FFF2-40B4-BE49-F238E27FC236}">
                <a16:creationId xmlns:a16="http://schemas.microsoft.com/office/drawing/2014/main" id="{12B890AD-B0C7-AD97-5C53-D9EF483485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000" t="19910" r="20000" b="30313"/>
          <a:stretch>
            <a:fillRect/>
          </a:stretch>
        </p:blipFill>
        <p:spPr>
          <a:xfrm>
            <a:off x="1184095" y="3750462"/>
            <a:ext cx="457200" cy="457200"/>
          </a:xfrm>
          <a:prstGeom prst="rect">
            <a:avLst/>
          </a:prstGeom>
          <a:ln w="15875" cap="rnd">
            <a:solidFill>
              <a:srgbClr val="011634"/>
            </a:solidFill>
            <a:bevel/>
          </a:ln>
        </p:spPr>
      </p:pic>
      <p:pic>
        <p:nvPicPr>
          <p:cNvPr id="17" name="Picture 16" descr="Amazon Simple Email Service (SES) | AWS Messaging Blog">
            <a:extLst>
              <a:ext uri="{FF2B5EF4-FFF2-40B4-BE49-F238E27FC236}">
                <a16:creationId xmlns:a16="http://schemas.microsoft.com/office/drawing/2014/main" id="{31D7162D-F665-F2CF-1B09-743327D8C5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350" y="4041089"/>
            <a:ext cx="457200" cy="457200"/>
          </a:xfrm>
          <a:prstGeom prst="rect">
            <a:avLst/>
          </a:prstGeom>
          <a:ln w="15875" cap="rnd">
            <a:solidFill>
              <a:srgbClr val="011634"/>
            </a:solidFill>
            <a:bevel/>
          </a:ln>
        </p:spPr>
      </p:pic>
      <p:pic>
        <p:nvPicPr>
          <p:cNvPr id="18" name="Picture 17" descr="Amazon Cognito: Empowering User Identity for Your Web and Mobile Applications | by Alice the Architect | AWS in Plain English">
            <a:extLst>
              <a:ext uri="{FF2B5EF4-FFF2-40B4-BE49-F238E27FC236}">
                <a16:creationId xmlns:a16="http://schemas.microsoft.com/office/drawing/2014/main" id="{406494EA-2208-FAA9-205F-AE47908666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8933" y="2710074"/>
            <a:ext cx="457200" cy="457200"/>
          </a:xfrm>
          <a:prstGeom prst="rect">
            <a:avLst/>
          </a:prstGeom>
          <a:ln w="15875" cap="rnd">
            <a:solidFill>
              <a:srgbClr val="011634"/>
            </a:solidFill>
            <a:bevel/>
          </a:ln>
        </p:spPr>
      </p:pic>
      <p:pic>
        <p:nvPicPr>
          <p:cNvPr id="21" name="Picture 20" descr="Building Event-Driven Applications with Amazon EventBridge: Automate, Integrate, and Respond in Real-Time | by Alice the Architect | AWS in Plain English">
            <a:extLst>
              <a:ext uri="{FF2B5EF4-FFF2-40B4-BE49-F238E27FC236}">
                <a16:creationId xmlns:a16="http://schemas.microsoft.com/office/drawing/2014/main" id="{E675B6D8-69C4-267E-6C32-1E7DEBEB55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6413" y="5188682"/>
            <a:ext cx="457200" cy="457200"/>
          </a:xfrm>
          <a:prstGeom prst="rect">
            <a:avLst/>
          </a:prstGeom>
          <a:ln w="15875" cap="rnd">
            <a:solidFill>
              <a:srgbClr val="011634"/>
            </a:solidFill>
            <a:bevel/>
          </a:ln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9CC7D4DC-5A86-6C88-A1F9-FF80A9E8EFD5}"/>
              </a:ext>
            </a:extLst>
          </p:cNvPr>
          <p:cNvSpPr txBox="1"/>
          <p:nvPr/>
        </p:nvSpPr>
        <p:spPr>
          <a:xfrm>
            <a:off x="1740771" y="3174322"/>
            <a:ext cx="8610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Cognito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14FE0A7-7127-8CAD-6399-EB6B58CEF40C}"/>
              </a:ext>
            </a:extLst>
          </p:cNvPr>
          <p:cNvSpPr txBox="1"/>
          <p:nvPr/>
        </p:nvSpPr>
        <p:spPr>
          <a:xfrm>
            <a:off x="780511" y="4203338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Amplify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15F731E-836C-E078-5B3F-1313A3E1D271}"/>
              </a:ext>
            </a:extLst>
          </p:cNvPr>
          <p:cNvSpPr txBox="1"/>
          <p:nvPr/>
        </p:nvSpPr>
        <p:spPr>
          <a:xfrm>
            <a:off x="9094933" y="5649982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EventBridge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016CE32-BE67-4EF9-86CC-73DF60627093}"/>
              </a:ext>
            </a:extLst>
          </p:cNvPr>
          <p:cNvSpPr txBox="1"/>
          <p:nvPr/>
        </p:nvSpPr>
        <p:spPr>
          <a:xfrm>
            <a:off x="3995640" y="4507955"/>
            <a:ext cx="7326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SES</a:t>
            </a:r>
          </a:p>
        </p:txBody>
      </p:sp>
      <p:pic>
        <p:nvPicPr>
          <p:cNvPr id="132" name="Picture 131" descr="Cloud Icons | AWS AppSync">
            <a:extLst>
              <a:ext uri="{FF2B5EF4-FFF2-40B4-BE49-F238E27FC236}">
                <a16:creationId xmlns:a16="http://schemas.microsoft.com/office/drawing/2014/main" id="{9592054A-8A61-CAC4-7B9E-F35843BC2C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7271" y="2726455"/>
            <a:ext cx="457200" cy="457200"/>
          </a:xfrm>
          <a:prstGeom prst="rect">
            <a:avLst/>
          </a:prstGeom>
          <a:ln w="15875">
            <a:solidFill>
              <a:srgbClr val="011634"/>
            </a:solidFill>
          </a:ln>
        </p:spPr>
      </p:pic>
      <p:pic>
        <p:nvPicPr>
          <p:cNvPr id="4" name="Picture 3" descr="File:React-icon.svg - Wikimedia Commons">
            <a:extLst>
              <a:ext uri="{FF2B5EF4-FFF2-40B4-BE49-F238E27FC236}">
                <a16:creationId xmlns:a16="http://schemas.microsoft.com/office/drawing/2014/main" id="{7D5E5A07-33BB-D25A-DCCA-677DF3079A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4095" y="2708409"/>
            <a:ext cx="457200" cy="457200"/>
          </a:xfrm>
          <a:prstGeom prst="rect">
            <a:avLst/>
          </a:prstGeom>
          <a:ln w="15875">
            <a:solidFill>
              <a:srgbClr val="011634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EF71405-07C5-101E-9F44-3013629360AE}"/>
              </a:ext>
            </a:extLst>
          </p:cNvPr>
          <p:cNvGrpSpPr/>
          <p:nvPr/>
        </p:nvGrpSpPr>
        <p:grpSpPr>
          <a:xfrm>
            <a:off x="395553" y="2572071"/>
            <a:ext cx="616376" cy="548640"/>
            <a:chOff x="5663092" y="3115041"/>
            <a:chExt cx="616376" cy="548640"/>
          </a:xfrm>
        </p:grpSpPr>
        <p:pic>
          <p:nvPicPr>
            <p:cNvPr id="6" name="Graphic 5" descr="User with solid fill">
              <a:extLst>
                <a:ext uri="{FF2B5EF4-FFF2-40B4-BE49-F238E27FC236}">
                  <a16:creationId xmlns:a16="http://schemas.microsoft.com/office/drawing/2014/main" id="{59023AC9-EAEC-409F-62B0-B5F83F90D0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63092" y="3115041"/>
              <a:ext cx="548640" cy="548640"/>
            </a:xfrm>
            <a:prstGeom prst="rect">
              <a:avLst/>
            </a:prstGeom>
          </p:spPr>
        </p:pic>
        <p:pic>
          <p:nvPicPr>
            <p:cNvPr id="8" name="Graphic 7" descr="User outline">
              <a:extLst>
                <a:ext uri="{FF2B5EF4-FFF2-40B4-BE49-F238E27FC236}">
                  <a16:creationId xmlns:a16="http://schemas.microsoft.com/office/drawing/2014/main" id="{0FEFDEF4-31B5-C54B-BF8A-894B65340C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730828" y="3115041"/>
              <a:ext cx="548640" cy="54864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AE6B7D2-C173-F246-47AB-19C90974F7B6}"/>
              </a:ext>
            </a:extLst>
          </p:cNvPr>
          <p:cNvSpPr txBox="1"/>
          <p:nvPr/>
        </p:nvSpPr>
        <p:spPr>
          <a:xfrm>
            <a:off x="273204" y="3092626"/>
            <a:ext cx="861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User or Manager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38000-0E1C-BBD9-F829-023A8B30821F}"/>
              </a:ext>
            </a:extLst>
          </p:cNvPr>
          <p:cNvSpPr txBox="1"/>
          <p:nvPr/>
        </p:nvSpPr>
        <p:spPr>
          <a:xfrm>
            <a:off x="2665334" y="3203430"/>
            <a:ext cx="8610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AppSync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9072C3-669A-2DBB-8832-15CB32E560BC}"/>
              </a:ext>
            </a:extLst>
          </p:cNvPr>
          <p:cNvSpPr/>
          <p:nvPr/>
        </p:nvSpPr>
        <p:spPr>
          <a:xfrm>
            <a:off x="190499" y="2091255"/>
            <a:ext cx="3476431" cy="2525915"/>
          </a:xfrm>
          <a:prstGeom prst="roundRect">
            <a:avLst/>
          </a:prstGeom>
          <a:noFill/>
          <a:ln w="15875" cap="rnd">
            <a:solidFill>
              <a:srgbClr val="011634"/>
            </a:solidFill>
            <a:prstDash val="dash"/>
            <a:beve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D497A0-13EC-B5F2-3DA9-E0C7AB1326E8}"/>
              </a:ext>
            </a:extLst>
          </p:cNvPr>
          <p:cNvSpPr txBox="1"/>
          <p:nvPr/>
        </p:nvSpPr>
        <p:spPr>
          <a:xfrm>
            <a:off x="1006987" y="3198691"/>
            <a:ext cx="941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React Web App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0C75488-714F-2CE7-1E9B-006F9CCA830E}"/>
              </a:ext>
            </a:extLst>
          </p:cNvPr>
          <p:cNvGrpSpPr/>
          <p:nvPr/>
        </p:nvGrpSpPr>
        <p:grpSpPr>
          <a:xfrm>
            <a:off x="190498" y="5013554"/>
            <a:ext cx="3476431" cy="1327180"/>
            <a:chOff x="190498" y="4653293"/>
            <a:chExt cx="3476431" cy="132718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3701177-BB1A-8A58-3501-9D795524550A}"/>
                </a:ext>
              </a:extLst>
            </p:cNvPr>
            <p:cNvSpPr/>
            <p:nvPr/>
          </p:nvSpPr>
          <p:spPr>
            <a:xfrm>
              <a:off x="190498" y="4653293"/>
              <a:ext cx="3476431" cy="1327180"/>
            </a:xfrm>
            <a:prstGeom prst="roundRect">
              <a:avLst/>
            </a:prstGeom>
            <a:noFill/>
            <a:ln w="15875" cap="rnd">
              <a:solidFill>
                <a:srgbClr val="011634"/>
              </a:solidFill>
              <a:prstDash val="dash"/>
              <a:beve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entury Gothic" panose="020B0502020202020204" pitchFamily="34" charset="0"/>
              </a:endParaRPr>
            </a:p>
          </p:txBody>
        </p:sp>
        <p:pic>
          <p:nvPicPr>
            <p:cNvPr id="39" name="Graphic 38" descr="Boardroom with solid fill">
              <a:extLst>
                <a:ext uri="{FF2B5EF4-FFF2-40B4-BE49-F238E27FC236}">
                  <a16:creationId xmlns:a16="http://schemas.microsoft.com/office/drawing/2014/main" id="{6C40D542-DF5D-8582-FB06-3F64696D95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3289" y="5079964"/>
              <a:ext cx="548640" cy="548640"/>
            </a:xfrm>
            <a:prstGeom prst="rect">
              <a:avLst/>
            </a:prstGeom>
          </p:spPr>
        </p:pic>
        <p:pic>
          <p:nvPicPr>
            <p:cNvPr id="41" name="Graphic 40" descr="Daily calendar with solid fill">
              <a:extLst>
                <a:ext uri="{FF2B5EF4-FFF2-40B4-BE49-F238E27FC236}">
                  <a16:creationId xmlns:a16="http://schemas.microsoft.com/office/drawing/2014/main" id="{24A8E1C2-6CF4-B0C7-9DC7-B57ED5D77E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652536" y="5079964"/>
              <a:ext cx="548640" cy="548640"/>
            </a:xfrm>
            <a:prstGeom prst="rect">
              <a:avLst/>
            </a:prstGeom>
          </p:spPr>
        </p:pic>
        <p:pic>
          <p:nvPicPr>
            <p:cNvPr id="43" name="Graphic 42" descr="Open envelope with solid fill">
              <a:extLst>
                <a:ext uri="{FF2B5EF4-FFF2-40B4-BE49-F238E27FC236}">
                  <a16:creationId xmlns:a16="http://schemas.microsoft.com/office/drawing/2014/main" id="{6B858F5D-2FA6-A40E-CB86-90F746AAAD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841783" y="5079964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B71D704-DE4E-0272-F75A-1DB810B39CE8}"/>
                </a:ext>
              </a:extLst>
            </p:cNvPr>
            <p:cNvSpPr txBox="1"/>
            <p:nvPr/>
          </p:nvSpPr>
          <p:spPr>
            <a:xfrm>
              <a:off x="944193" y="4784954"/>
              <a:ext cx="18197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entury Gothic" panose="020B0502020202020204" pitchFamily="34" charset="0"/>
                </a:rPr>
                <a:t>External Reception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6BFD985-FF87-B5AE-5174-67AAD37C1AEA}"/>
              </a:ext>
            </a:extLst>
          </p:cNvPr>
          <p:cNvSpPr txBox="1"/>
          <p:nvPr/>
        </p:nvSpPr>
        <p:spPr>
          <a:xfrm>
            <a:off x="691362" y="2116040"/>
            <a:ext cx="2380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User Interface and Connection/ API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5CAB77C-6FAB-6A34-8F10-D381DE47993E}"/>
              </a:ext>
            </a:extLst>
          </p:cNvPr>
          <p:cNvGrpSpPr/>
          <p:nvPr/>
        </p:nvGrpSpPr>
        <p:grpSpPr>
          <a:xfrm>
            <a:off x="5429148" y="2251148"/>
            <a:ext cx="1635922" cy="1203754"/>
            <a:chOff x="5429148" y="2251148"/>
            <a:chExt cx="1635922" cy="1203754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3ACC334-F099-19C6-A961-759316A2CFB2}"/>
                </a:ext>
              </a:extLst>
            </p:cNvPr>
            <p:cNvSpPr txBox="1"/>
            <p:nvPr/>
          </p:nvSpPr>
          <p:spPr>
            <a:xfrm>
              <a:off x="5607029" y="3079463"/>
              <a:ext cx="12801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79D8"/>
                  </a:solidFill>
                  <a:latin typeface="Century Gothic" panose="020B0502020202020204" pitchFamily="34" charset="0"/>
                </a:rPr>
                <a:t>Lambda</a:t>
              </a:r>
            </a:p>
          </p:txBody>
        </p:sp>
        <p:pic>
          <p:nvPicPr>
            <p:cNvPr id="15" name="Picture 14" descr="AWS Lambda - Wikipedia">
              <a:extLst>
                <a:ext uri="{FF2B5EF4-FFF2-40B4-BE49-F238E27FC236}">
                  <a16:creationId xmlns:a16="http://schemas.microsoft.com/office/drawing/2014/main" id="{C19D1A8A-7DFC-A74E-5E55-835AA8686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018509" y="2624425"/>
              <a:ext cx="457200" cy="457200"/>
            </a:xfrm>
            <a:prstGeom prst="rect">
              <a:avLst/>
            </a:prstGeom>
            <a:ln w="15875" cap="rnd">
              <a:solidFill>
                <a:srgbClr val="011634"/>
              </a:solidFill>
              <a:bevel/>
            </a:ln>
          </p:spPr>
        </p:pic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5671306B-F08A-6F3D-EBC5-4B7A6EDC03FF}"/>
                </a:ext>
              </a:extLst>
            </p:cNvPr>
            <p:cNvSpPr/>
            <p:nvPr/>
          </p:nvSpPr>
          <p:spPr>
            <a:xfrm>
              <a:off x="5429148" y="2251148"/>
              <a:ext cx="1635922" cy="1203754"/>
            </a:xfrm>
            <a:prstGeom prst="roundRect">
              <a:avLst/>
            </a:prstGeom>
            <a:noFill/>
            <a:ln w="15875" cap="rnd">
              <a:solidFill>
                <a:srgbClr val="011634"/>
              </a:solidFill>
              <a:prstDash val="dash"/>
              <a:beve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entury Gothic" panose="020B0502020202020204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B748007-4BC2-B57C-5422-80A9E59E390A}"/>
              </a:ext>
            </a:extLst>
          </p:cNvPr>
          <p:cNvSpPr txBox="1"/>
          <p:nvPr/>
        </p:nvSpPr>
        <p:spPr>
          <a:xfrm>
            <a:off x="5056970" y="2297920"/>
            <a:ext cx="238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Backend Logic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5F2F827-79B3-C1FA-E36A-945800199853}"/>
              </a:ext>
            </a:extLst>
          </p:cNvPr>
          <p:cNvGrpSpPr/>
          <p:nvPr/>
        </p:nvGrpSpPr>
        <p:grpSpPr>
          <a:xfrm>
            <a:off x="4976226" y="5021269"/>
            <a:ext cx="3476431" cy="1293760"/>
            <a:chOff x="4574469" y="3639454"/>
            <a:chExt cx="3476431" cy="1293760"/>
          </a:xfrm>
        </p:grpSpPr>
        <p:pic>
          <p:nvPicPr>
            <p:cNvPr id="16" name="Picture 15" descr="Hosting Static Websites with Amazon S3: A Beginner's Guide | by Alice the Architect | AWS in Plain English">
              <a:extLst>
                <a:ext uri="{FF2B5EF4-FFF2-40B4-BE49-F238E27FC236}">
                  <a16:creationId xmlns:a16="http://schemas.microsoft.com/office/drawing/2014/main" id="{6AD880AF-8DB3-D6FA-5760-920131CED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820494" y="3811451"/>
              <a:ext cx="457200" cy="457200"/>
            </a:xfrm>
            <a:prstGeom prst="rect">
              <a:avLst/>
            </a:prstGeom>
            <a:solidFill>
              <a:srgbClr val="011634"/>
            </a:solidFill>
            <a:ln w="15875" cap="rnd">
              <a:solidFill>
                <a:srgbClr val="011634"/>
              </a:solidFill>
              <a:bevel/>
            </a:ln>
          </p:spPr>
        </p:pic>
        <p:pic>
          <p:nvPicPr>
            <p:cNvPr id="20" name="Picture 19" descr="AWS Cloud Resource | DynamoDB">
              <a:extLst>
                <a:ext uri="{FF2B5EF4-FFF2-40B4-BE49-F238E27FC236}">
                  <a16:creationId xmlns:a16="http://schemas.microsoft.com/office/drawing/2014/main" id="{808D5603-D055-DC6E-8781-EE8C45034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309828" y="3811451"/>
              <a:ext cx="457200" cy="457200"/>
            </a:xfrm>
            <a:prstGeom prst="rect">
              <a:avLst/>
            </a:prstGeom>
            <a:solidFill>
              <a:srgbClr val="011634"/>
            </a:solidFill>
            <a:ln w="15875" cap="rnd">
              <a:solidFill>
                <a:srgbClr val="011634"/>
              </a:solidFill>
              <a:bevel/>
            </a:ln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901F9D-5094-0976-D5D8-AD2EF648F003}"/>
                </a:ext>
              </a:extLst>
            </p:cNvPr>
            <p:cNvSpPr txBox="1"/>
            <p:nvPr/>
          </p:nvSpPr>
          <p:spPr>
            <a:xfrm>
              <a:off x="4898348" y="4282989"/>
              <a:ext cx="12801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79D8"/>
                  </a:solidFill>
                  <a:latin typeface="Century Gothic" panose="020B0502020202020204" pitchFamily="34" charset="0"/>
                </a:rPr>
                <a:t>DynamoDB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4308723-4285-0F42-D0CF-E9D2DD6EDB42}"/>
                </a:ext>
              </a:extLst>
            </p:cNvPr>
            <p:cNvSpPr txBox="1"/>
            <p:nvPr/>
          </p:nvSpPr>
          <p:spPr>
            <a:xfrm>
              <a:off x="6409014" y="4282989"/>
              <a:ext cx="12801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79D8"/>
                  </a:solidFill>
                  <a:latin typeface="Century Gothic" panose="020B0502020202020204" pitchFamily="34" charset="0"/>
                </a:rPr>
                <a:t>S3</a:t>
              </a: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19798B35-115B-32C1-351D-3AE730891DEB}"/>
                </a:ext>
              </a:extLst>
            </p:cNvPr>
            <p:cNvSpPr/>
            <p:nvPr/>
          </p:nvSpPr>
          <p:spPr>
            <a:xfrm>
              <a:off x="4574469" y="3639454"/>
              <a:ext cx="3476431" cy="1293760"/>
            </a:xfrm>
            <a:prstGeom prst="roundRect">
              <a:avLst/>
            </a:prstGeom>
            <a:noFill/>
            <a:ln w="15875" cap="rnd">
              <a:solidFill>
                <a:srgbClr val="011634"/>
              </a:solidFill>
              <a:prstDash val="dash"/>
              <a:beve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7675735-3A91-132F-08B9-F71117979B2B}"/>
                </a:ext>
              </a:extLst>
            </p:cNvPr>
            <p:cNvSpPr txBox="1"/>
            <p:nvPr/>
          </p:nvSpPr>
          <p:spPr>
            <a:xfrm>
              <a:off x="4740740" y="4597732"/>
              <a:ext cx="31438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entury Gothic" panose="020B0502020202020204" pitchFamily="34" charset="0"/>
                </a:rPr>
                <a:t>Data Storage and Manipulation</a:t>
              </a:r>
            </a:p>
          </p:txBody>
        </p:sp>
      </p:grpSp>
      <p:pic>
        <p:nvPicPr>
          <p:cNvPr id="64" name="Picture 63" descr="Cloud Icons | Amazon Personalize">
            <a:extLst>
              <a:ext uri="{FF2B5EF4-FFF2-40B4-BE49-F238E27FC236}">
                <a16:creationId xmlns:a16="http://schemas.microsoft.com/office/drawing/2014/main" id="{002388A1-3FD8-8F43-A8C0-2DBB0CAAF22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95412" y="2684241"/>
            <a:ext cx="457200" cy="457200"/>
          </a:xfrm>
          <a:prstGeom prst="rect">
            <a:avLst/>
          </a:prstGeom>
          <a:ln w="15875">
            <a:solidFill>
              <a:srgbClr val="011634"/>
            </a:solidFill>
          </a:ln>
        </p:spPr>
      </p:pic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EA943C9-112D-AB6C-CC0E-FFC14974A04A}"/>
              </a:ext>
            </a:extLst>
          </p:cNvPr>
          <p:cNvSpPr/>
          <p:nvPr/>
        </p:nvSpPr>
        <p:spPr>
          <a:xfrm>
            <a:off x="9478173" y="2198035"/>
            <a:ext cx="1298229" cy="2309920"/>
          </a:xfrm>
          <a:prstGeom prst="roundRect">
            <a:avLst/>
          </a:prstGeom>
          <a:noFill/>
          <a:ln w="15875" cap="rnd">
            <a:solidFill>
              <a:srgbClr val="011634"/>
            </a:solidFill>
            <a:prstDash val="dash"/>
            <a:beve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8270BF-4971-BF60-A2AC-FF4F6B29C2B5}"/>
              </a:ext>
            </a:extLst>
          </p:cNvPr>
          <p:cNvSpPr txBox="1"/>
          <p:nvPr/>
        </p:nvSpPr>
        <p:spPr>
          <a:xfrm>
            <a:off x="9429679" y="2268434"/>
            <a:ext cx="139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ML/AI Layer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AE2421-BB20-F205-369C-F095586FA546}"/>
              </a:ext>
            </a:extLst>
          </p:cNvPr>
          <p:cNvSpPr txBox="1"/>
          <p:nvPr/>
        </p:nvSpPr>
        <p:spPr>
          <a:xfrm>
            <a:off x="9478173" y="4158129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Bedrock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E47B03-DCAB-D6A1-AF1E-7E0CCA6D5A67}"/>
              </a:ext>
            </a:extLst>
          </p:cNvPr>
          <p:cNvSpPr txBox="1"/>
          <p:nvPr/>
        </p:nvSpPr>
        <p:spPr>
          <a:xfrm>
            <a:off x="9478173" y="3154999"/>
            <a:ext cx="1280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Amazon Personalize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4A6F84-FAD7-FD8F-FFB2-B40D733353B2}"/>
              </a:ext>
            </a:extLst>
          </p:cNvPr>
          <p:cNvSpPr txBox="1"/>
          <p:nvPr/>
        </p:nvSpPr>
        <p:spPr>
          <a:xfrm>
            <a:off x="10360465" y="5672694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QuickSight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3A6B5A3D-810A-E0DE-013D-1BADA726BFD1}"/>
              </a:ext>
            </a:extLst>
          </p:cNvPr>
          <p:cNvSpPr/>
          <p:nvPr/>
        </p:nvSpPr>
        <p:spPr>
          <a:xfrm>
            <a:off x="8776536" y="5021269"/>
            <a:ext cx="3184360" cy="1327180"/>
          </a:xfrm>
          <a:prstGeom prst="roundRect">
            <a:avLst/>
          </a:prstGeom>
          <a:noFill/>
          <a:ln w="15875" cap="rnd">
            <a:solidFill>
              <a:srgbClr val="011634"/>
            </a:solidFill>
            <a:prstDash val="dash"/>
            <a:beve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116432C-B2C2-67D8-ED21-3FECDABBE23D}"/>
              </a:ext>
            </a:extLst>
          </p:cNvPr>
          <p:cNvSpPr txBox="1"/>
          <p:nvPr/>
        </p:nvSpPr>
        <p:spPr>
          <a:xfrm>
            <a:off x="8803148" y="6039189"/>
            <a:ext cx="3143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Future Implementations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5DFEF98-5568-87AE-65B6-A677C4AC0703}"/>
              </a:ext>
            </a:extLst>
          </p:cNvPr>
          <p:cNvCxnSpPr>
            <a:stCxn id="13" idx="3"/>
            <a:endCxn id="50" idx="1"/>
          </p:cNvCxnSpPr>
          <p:nvPr/>
        </p:nvCxnSpPr>
        <p:spPr>
          <a:xfrm flipV="1">
            <a:off x="3666930" y="2853025"/>
            <a:ext cx="1762218" cy="501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5BC1784-A3D6-3CEC-AEB8-D2BEAFF531B1}"/>
              </a:ext>
            </a:extLst>
          </p:cNvPr>
          <p:cNvCxnSpPr>
            <a:cxnSpLocks/>
            <a:stCxn id="50" idx="3"/>
            <a:endCxn id="76" idx="1"/>
          </p:cNvCxnSpPr>
          <p:nvPr/>
        </p:nvCxnSpPr>
        <p:spPr>
          <a:xfrm>
            <a:off x="7065070" y="2853025"/>
            <a:ext cx="2413103" cy="532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7ECF78D-D86C-CD56-7696-71863768B183}"/>
              </a:ext>
            </a:extLst>
          </p:cNvPr>
          <p:cNvCxnSpPr>
            <a:cxnSpLocks/>
            <a:stCxn id="50" idx="2"/>
            <a:endCxn id="34" idx="3"/>
          </p:cNvCxnSpPr>
          <p:nvPr/>
        </p:nvCxnSpPr>
        <p:spPr>
          <a:xfrm flipH="1">
            <a:off x="3666929" y="3454902"/>
            <a:ext cx="2580180" cy="2222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D2F02B7-62B2-2AA2-1866-5C30284130D9}"/>
              </a:ext>
            </a:extLst>
          </p:cNvPr>
          <p:cNvCxnSpPr>
            <a:stCxn id="50" idx="2"/>
            <a:endCxn id="60" idx="0"/>
          </p:cNvCxnSpPr>
          <p:nvPr/>
        </p:nvCxnSpPr>
        <p:spPr>
          <a:xfrm>
            <a:off x="6247109" y="3454902"/>
            <a:ext cx="467333" cy="1566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15A178C-CF13-284F-9501-4651BD9FEA6B}"/>
              </a:ext>
            </a:extLst>
          </p:cNvPr>
          <p:cNvCxnSpPr>
            <a:stCxn id="20" idx="3"/>
            <a:endCxn id="16" idx="1"/>
          </p:cNvCxnSpPr>
          <p:nvPr/>
        </p:nvCxnSpPr>
        <p:spPr>
          <a:xfrm>
            <a:off x="6168785" y="5421866"/>
            <a:ext cx="105346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5CD65628-FFD6-C096-1B31-5144CF8F0D8B}"/>
              </a:ext>
            </a:extLst>
          </p:cNvPr>
          <p:cNvSpPr txBox="1"/>
          <p:nvPr/>
        </p:nvSpPr>
        <p:spPr>
          <a:xfrm>
            <a:off x="81979" y="5885878"/>
            <a:ext cx="1280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Meeting Invites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5192E09-0F9E-C6B7-0998-9AE0EA39A66B}"/>
              </a:ext>
            </a:extLst>
          </p:cNvPr>
          <p:cNvSpPr txBox="1"/>
          <p:nvPr/>
        </p:nvSpPr>
        <p:spPr>
          <a:xfrm>
            <a:off x="2469905" y="5994935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Emails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F486F36-20EB-3BA6-F185-E4F0942726D3}"/>
              </a:ext>
            </a:extLst>
          </p:cNvPr>
          <p:cNvSpPr txBox="1"/>
          <p:nvPr/>
        </p:nvSpPr>
        <p:spPr>
          <a:xfrm>
            <a:off x="1284720" y="5949758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F79D8"/>
                </a:solidFill>
                <a:latin typeface="Century Gothic" panose="020B0502020202020204" pitchFamily="34" charset="0"/>
              </a:rPr>
              <a:t>Calendar</a:t>
            </a:r>
          </a:p>
        </p:txBody>
      </p:sp>
    </p:spTree>
    <p:extLst>
      <p:ext uri="{BB962C8B-B14F-4D97-AF65-F5344CB8AC3E}">
        <p14:creationId xmlns:p14="http://schemas.microsoft.com/office/powerpoint/2010/main" val="165442610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IBC 2">
      <a:dk1>
        <a:srgbClr val="000000"/>
      </a:dk1>
      <a:lt1>
        <a:srgbClr val="FFFFFF"/>
      </a:lt1>
      <a:dk2>
        <a:srgbClr val="011634"/>
      </a:dk2>
      <a:lt2>
        <a:srgbClr val="BFBFBF"/>
      </a:lt2>
      <a:accent1>
        <a:srgbClr val="1F59A1"/>
      </a:accent1>
      <a:accent2>
        <a:srgbClr val="08A5FF"/>
      </a:accent2>
      <a:accent3>
        <a:srgbClr val="696969"/>
      </a:accent3>
      <a:accent4>
        <a:srgbClr val="BFBFBF"/>
      </a:accent4>
      <a:accent5>
        <a:srgbClr val="92D050"/>
      </a:accent5>
      <a:accent6>
        <a:srgbClr val="BAD87B"/>
      </a:accent6>
      <a:hlink>
        <a:srgbClr val="0852F4"/>
      </a:hlink>
      <a:folHlink>
        <a:srgbClr val="FF00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286</Words>
  <Application>Microsoft Office PowerPoint</Application>
  <PresentationFormat>Widescreen</PresentationFormat>
  <Paragraphs>67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Century Gothic</vt:lpstr>
      <vt:lpstr>Arial</vt:lpstr>
      <vt:lpstr>Custom Design</vt:lpstr>
      <vt:lpstr>MPS and Weekly Schedule</vt:lpstr>
      <vt:lpstr>MPS and Weekly Schedule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Evaristo Ribeiro</dc:creator>
  <cp:lastModifiedBy>Brendan Russell</cp:lastModifiedBy>
  <cp:revision>4</cp:revision>
  <dcterms:created xsi:type="dcterms:W3CDTF">2018-11-14T18:24:31Z</dcterms:created>
  <dcterms:modified xsi:type="dcterms:W3CDTF">2026-10-06T04:18:47Z</dcterms:modified>
</cp:coreProperties>
</file>